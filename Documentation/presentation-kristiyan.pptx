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9" r:id="rId2"/>
    <p:sldId id="282" r:id="rId3"/>
    <p:sldId id="286" r:id="rId4"/>
    <p:sldId id="287" r:id="rId5"/>
    <p:sldId id="288" r:id="rId6"/>
    <p:sldId id="289" r:id="rId7"/>
    <p:sldId id="293" r:id="rId8"/>
    <p:sldId id="295" r:id="rId9"/>
    <p:sldId id="294" r:id="rId10"/>
    <p:sldId id="290" r:id="rId11"/>
    <p:sldId id="291" r:id="rId12"/>
    <p:sldId id="292" r:id="rId13"/>
    <p:sldId id="281" r:id="rId14"/>
  </p:sldIdLst>
  <p:sldSz cx="18288000" cy="10287000"/>
  <p:notesSz cx="6858000" cy="9144000"/>
  <p:embeddedFontLst>
    <p:embeddedFont>
      <p:font typeface="Josefin Sans" pitchFamily="2" charset="0"/>
      <p:regular r:id="rId16"/>
      <p:bold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775" autoAdjust="0"/>
  </p:normalViewPr>
  <p:slideViewPr>
    <p:cSldViewPr snapToGrid="0">
      <p:cViewPr varScale="1">
        <p:scale>
          <a:sx n="76" d="100"/>
          <a:sy n="76" d="100"/>
        </p:scale>
        <p:origin x="56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Темата на дипломната работа е разработка на FPGA-базиран автономен сериен терминал.</a:t>
            </a:r>
            <a:br>
              <a:rPr lang="ru-RU" dirty="0"/>
            </a:br>
            <a:r>
              <a:rPr lang="ru-RU" dirty="0"/>
              <a:t>Целта е създаване на самостоятелно устройство за конзолен достъп до мрежово оборудване, без използване на персонален компютър.</a:t>
            </a:r>
            <a:endParaRPr dirty="0"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9E1BB18-8659-7ED3-6192-F10DFCB00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50C7ED50-CA01-76C6-6CDF-309EC8CB4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диагностика и конфигурация на бизнес мрежово оборудване често се разчита на сериен конзолен достъп.</a:t>
            </a:r>
            <a:br>
              <a:rPr lang="ru-RU" dirty="0"/>
            </a:br>
            <a:r>
              <a:rPr lang="ru-RU" dirty="0"/>
              <a:t>На практика това изисква лаптоп и допълнителни адаптери, което усложнява процеса и намалява надеждността.</a:t>
            </a:r>
            <a:br>
              <a:rPr lang="ru-RU" dirty="0"/>
            </a:br>
            <a:r>
              <a:rPr lang="ru-RU" dirty="0"/>
              <a:t>Целта е този процес да бъде заменен с компактно, специализирано устройство.</a:t>
            </a: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DA3706FF-A098-713D-D04F-03FA2F440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6297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B3E535D-ECA0-967A-41B8-BFF688A51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01708ABC-414B-AF85-4570-4831002F2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разработено автономно хардуерно решение под формата на FPGA-базиран сериен терминал.</a:t>
            </a:r>
            <a:br>
              <a:rPr lang="ru-RU" dirty="0"/>
            </a:br>
            <a:r>
              <a:rPr lang="ru-RU" dirty="0"/>
              <a:t>Устройството комбинира клавиатурен вход, сериен интерфейс и директна визуализация върху TFT LCD дисплей.</a:t>
            </a:r>
            <a:br>
              <a:rPr lang="ru-RU" dirty="0"/>
            </a:br>
            <a:r>
              <a:rPr lang="ru-RU" dirty="0"/>
              <a:t>Работи без операционна система и стартира мигновено.</a:t>
            </a: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775C74FA-BD1D-584A-D50B-EF86A476A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9613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1764CFC-0AA2-2B2C-A517-DC1C9A97E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0C892888-0105-A1AB-465D-5D8A8CC79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Този слайд представя общата архитектура на разработеното устройство.</a:t>
            </a:r>
            <a:br>
              <a:rPr lang="ru-RU" dirty="0"/>
            </a:br>
            <a:r>
              <a:rPr lang="ru-RU" dirty="0"/>
              <a:t>Входните данни постъпват от PS/2 клавиатура и сериен интерфейс и се преобразуват в унифициран ASCII поток.</a:t>
            </a:r>
            <a:br>
              <a:rPr lang="ru-RU" dirty="0"/>
            </a:br>
            <a:r>
              <a:rPr lang="ru-RU" dirty="0"/>
              <a:t>Централната логика обработва текста и управлява неговото визуализиране, като резултатът се извежда директно към TFT LCD дисплей.</a:t>
            </a:r>
            <a:br>
              <a:rPr lang="ru-RU" dirty="0"/>
            </a:br>
            <a:r>
              <a:rPr lang="ru-RU" dirty="0"/>
              <a:t>Архитектурата е разделена на независими функционални блокове, което позволява паралелна и детерминирана работа на системата</a:t>
            </a: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5DFE4B71-8CA6-DB2E-6699-9E45C538E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4955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501F1E5-4E12-9A90-AB24-9AB926A4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B03C4A32-D854-B73F-B100-2A089AC17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„След дефиниране на архитектурата е реализирана йерархична организация на паметта.</a:t>
            </a:r>
            <a:br>
              <a:rPr lang="ru-RU" dirty="0"/>
            </a:br>
            <a:r>
              <a:rPr lang="ru-RU" dirty="0"/>
              <a:t>Текстовият буфер съхранява символите на ASCII ниво, шрифтовата памет съдържа растерното представяне на символите, а кадровият буфер – готовото пикселно изображение.</a:t>
            </a:r>
            <a:br>
              <a:rPr lang="ru-RU" dirty="0"/>
            </a:br>
            <a:r>
              <a:rPr lang="ru-RU" dirty="0"/>
              <a:t>Това разделяне осигурява стабилна визуализация независимо от входния трафик.</a:t>
            </a: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22E1CA11-FB20-F7EC-21AB-110936BA7D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5943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2B839BD-5121-F47E-1548-13DEC6C22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1B90860B-4C44-866D-E18E-66FF464FFC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Системата е реализирана изцяло на RTL ниво, без използване на процесор.</a:t>
            </a:r>
            <a:br>
              <a:rPr lang="ru-RU" dirty="0"/>
            </a:br>
            <a:r>
              <a:rPr lang="ru-RU" dirty="0"/>
              <a:t>Управлението на данните и достъпът до паметите се осъществяват чрез крайни автомати, като основните процеси работят паралелно.</a:t>
            </a:r>
            <a:br>
              <a:rPr lang="ru-RU" dirty="0"/>
            </a:br>
            <a:r>
              <a:rPr lang="ru-RU" dirty="0"/>
              <a:t>Това осигурява детерминирано поведение и надеждна работа на устройството.</a:t>
            </a: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03C6CD16-8C6C-FD3A-68B4-12F965D1A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9125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64B49AE-6233-62CB-F13F-194C22AA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723743EA-74E7-BD9D-A65B-5DAD624A95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C4A522FB-15D1-E1D8-7021-0B6D13013F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2823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C65E782-77CD-DB1C-2D9A-1516A421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6010B8B1-EB05-F183-382F-74BFE620AC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924569AB-66C9-0867-2F9D-D38AE22908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4104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8E350A1-EBB4-0A3A-A9A2-F3503735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21DB72E7-5491-6061-BD87-5260CD597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13595367-1723-38CF-B412-A0F77786F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0676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19C633A-4159-DDB8-D1E0-B361BE23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E539DB40-7155-9F6A-0D11-DD2283277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Тук е показана постановката на демонстрацията.</a:t>
            </a:r>
            <a:br>
              <a:rPr lang="ru-RU" dirty="0"/>
            </a:br>
            <a:r>
              <a:rPr lang="ru-RU" dirty="0"/>
              <a:t>Устройството приема вход от PS/2 клавиатура, комуникира през сериен интерфейс при 115200 baud и визуализира резултата директно на TFT LCD дисплей.</a:t>
            </a: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15C82151-1FFF-445C-3763-0FCB854B29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774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57D89E4-7FEA-DBF9-028F-E07FEEAC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19CB9FFD-C6E8-2BE0-C9AB-4FB469865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„Показани са примерни тестови команди и очакваният ефект от тях.</a:t>
            </a:r>
            <a:br>
              <a:rPr lang="ru-RU" dirty="0"/>
            </a:br>
            <a:r>
              <a:rPr lang="ru-RU" dirty="0"/>
              <a:t>По време на демонстрацията ще се види коректно визуализиране на многоредов изход, както и реализираното скролиране.</a:t>
            </a: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3C19EC0E-99A4-0C10-C30E-51AF8D713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49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EB35A00-3309-98E8-CAB1-B9A4EA5C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328189BB-0818-21FA-A885-5C0B4DC04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4C96BF6D-F513-1E96-5B11-130DA685B6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7581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converters.com/usb-rs232-adapter-xs880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ackaday.io/project/189699/gallery#8c6145e5882ac722701cb21076b8377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0219" y="-419100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965405" y="4146304"/>
            <a:ext cx="14357191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0" i="0" u="none" strike="noStrike" cap="none" dirty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FPGA базирана система за диагностика на мрежово оборудване</a:t>
            </a:r>
            <a:endParaRPr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8132A7-8AAA-6EA9-BC12-EFBC107B5357}"/>
              </a:ext>
            </a:extLst>
          </p:cNvPr>
          <p:cNvSpPr txBox="1"/>
          <p:nvPr/>
        </p:nvSpPr>
        <p:spPr>
          <a:xfrm>
            <a:off x="7681314" y="7823061"/>
            <a:ext cx="10494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2000" dirty="0">
                <a:solidFill>
                  <a:schemeClr val="bg1"/>
                </a:solidFill>
              </a:rPr>
              <a:t>Дипломант: Кристиян Галинов Михалев фак. №: 24651002</a:t>
            </a:r>
            <a:br>
              <a:rPr lang="bg-BG" sz="2000" dirty="0">
                <a:solidFill>
                  <a:schemeClr val="bg1"/>
                </a:solidFill>
              </a:rPr>
            </a:br>
            <a:r>
              <a:rPr lang="bg-BG" sz="2000" dirty="0">
                <a:solidFill>
                  <a:schemeClr val="bg1"/>
                </a:solidFill>
              </a:rPr>
              <a:t>Дипломен ръководител: Доц. д-р инж. Ф. Ферадов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70AD4B8B-8670-1B17-8C30-919FB1A0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>
            <a:extLst>
              <a:ext uri="{FF2B5EF4-FFF2-40B4-BE49-F238E27FC236}">
                <a16:creationId xmlns:a16="http://schemas.microsoft.com/office/drawing/2014/main" id="{609101B1-F9C5-DE2D-79FC-51A89BC7E4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0219" y="-419100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F963B1-19A2-76E7-127C-6DB0E85798F3}"/>
              </a:ext>
            </a:extLst>
          </p:cNvPr>
          <p:cNvSpPr txBox="1"/>
          <p:nvPr/>
        </p:nvSpPr>
        <p:spPr>
          <a:xfrm>
            <a:off x="4338536" y="1582366"/>
            <a:ext cx="9610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000" dirty="0">
                <a:solidFill>
                  <a:schemeClr val="bg1"/>
                </a:solidFill>
              </a:rPr>
              <a:t>Проблем</a:t>
            </a:r>
          </a:p>
        </p:txBody>
      </p:sp>
      <p:pic>
        <p:nvPicPr>
          <p:cNvPr id="1026" name="Picture 2" descr="Network Hardware">
            <a:extLst>
              <a:ext uri="{FF2B5EF4-FFF2-40B4-BE49-F238E27FC236}">
                <a16:creationId xmlns:a16="http://schemas.microsoft.com/office/drawing/2014/main" id="{D42410C8-72A3-9668-9067-0C589E9D4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173" y="3283828"/>
            <a:ext cx="6043712" cy="401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A generic image">
            <a:extLst>
              <a:ext uri="{FF2B5EF4-FFF2-40B4-BE49-F238E27FC236}">
                <a16:creationId xmlns:a16="http://schemas.microsoft.com/office/drawing/2014/main" id="{7EE9915A-0508-C210-4FF7-2BC7F2FD9F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266700"/>
            <a:ext cx="97536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sp>
        <p:nvSpPr>
          <p:cNvPr id="5" name="AutoShape 8" descr="A generic image">
            <a:extLst>
              <a:ext uri="{FF2B5EF4-FFF2-40B4-BE49-F238E27FC236}">
                <a16:creationId xmlns:a16="http://schemas.microsoft.com/office/drawing/2014/main" id="{D20D0168-C929-5E0A-1DB5-7C4A6EEF09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419100"/>
            <a:ext cx="97536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A0E7FB44-6E7E-4BF4-D6EC-BD4DE07196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51816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72F20A-8479-7D89-C8D4-D8B0FB267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116" y="3283829"/>
            <a:ext cx="5386341" cy="401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69380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24FA6765-F647-97E0-72EF-2D00FF62B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>
            <a:extLst>
              <a:ext uri="{FF2B5EF4-FFF2-40B4-BE49-F238E27FC236}">
                <a16:creationId xmlns:a16="http://schemas.microsoft.com/office/drawing/2014/main" id="{251A14B2-28D5-3FC2-C1ED-C14C3FD647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6704" y="-425585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E1CD47-9623-161E-AC0F-F9F860B17E17}"/>
              </a:ext>
            </a:extLst>
          </p:cNvPr>
          <p:cNvSpPr txBox="1"/>
          <p:nvPr/>
        </p:nvSpPr>
        <p:spPr>
          <a:xfrm>
            <a:off x="4776281" y="1580450"/>
            <a:ext cx="87354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000" dirty="0">
                <a:solidFill>
                  <a:schemeClr val="bg1"/>
                </a:solidFill>
              </a:rPr>
              <a:t>Разработено решение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33E62-BCC8-239D-47B1-3451E654A28D}"/>
              </a:ext>
            </a:extLst>
          </p:cNvPr>
          <p:cNvSpPr txBox="1"/>
          <p:nvPr/>
        </p:nvSpPr>
        <p:spPr>
          <a:xfrm>
            <a:off x="1600346" y="3765175"/>
            <a:ext cx="7686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Самостоятелно хардуерно устройство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</a:rPr>
              <a:t>Xylinx</a:t>
            </a:r>
            <a:r>
              <a:rPr lang="en-US" sz="2800" dirty="0">
                <a:solidFill>
                  <a:schemeClr val="bg1"/>
                </a:solidFill>
              </a:rPr>
              <a:t> Artix7-XC7A100T</a:t>
            </a:r>
            <a:endParaRPr lang="ru-RU" sz="2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Вграден TFT LCD дисплей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Клавиатурен вход (PS/2)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RS-232 комуникация с мрежово оборудване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Работа без операционна система</a:t>
            </a:r>
          </a:p>
          <a:p>
            <a:pPr>
              <a:buClr>
                <a:schemeClr val="bg1"/>
              </a:buClr>
            </a:pPr>
            <a:r>
              <a:rPr lang="ru-RU" sz="2800" dirty="0">
                <a:solidFill>
                  <a:schemeClr val="bg1"/>
                </a:solidFill>
              </a:rPr>
              <a:t>   (Instant-on)</a:t>
            </a:r>
            <a:endParaRPr lang="bg-BG" sz="28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6CC749-A3F7-EB37-A41A-EB8FC347D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942" y="3096490"/>
            <a:ext cx="65024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21817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F6BDA558-C657-D75F-5397-8C58B6F9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>
            <a:extLst>
              <a:ext uri="{FF2B5EF4-FFF2-40B4-BE49-F238E27FC236}">
                <a16:creationId xmlns:a16="http://schemas.microsoft.com/office/drawing/2014/main" id="{6BBD41FD-4BAB-83BE-2D1E-3CC21A0B0F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6704" y="-425585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62201-CCA5-6E0E-CB7A-BBC7A8DA545D}"/>
              </a:ext>
            </a:extLst>
          </p:cNvPr>
          <p:cNvSpPr txBox="1"/>
          <p:nvPr/>
        </p:nvSpPr>
        <p:spPr>
          <a:xfrm>
            <a:off x="2438400" y="1690697"/>
            <a:ext cx="1341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000" dirty="0">
                <a:solidFill>
                  <a:schemeClr val="bg1"/>
                </a:solidFill>
              </a:rPr>
              <a:t>Обща архитектура на устройството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AEAAD-DA22-A70A-42B2-1B8B94462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500" y="2706360"/>
            <a:ext cx="13599000" cy="588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23594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2E6A328A-674B-CCDD-1DC6-EA5F5126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>
            <a:extLst>
              <a:ext uri="{FF2B5EF4-FFF2-40B4-BE49-F238E27FC236}">
                <a16:creationId xmlns:a16="http://schemas.microsoft.com/office/drawing/2014/main" id="{562DC13B-2A1A-9AE2-2EB7-912AA3253A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6704" y="-425585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B29661-C593-7644-999E-03301D076D55}"/>
              </a:ext>
            </a:extLst>
          </p:cNvPr>
          <p:cNvSpPr txBox="1"/>
          <p:nvPr/>
        </p:nvSpPr>
        <p:spPr>
          <a:xfrm>
            <a:off x="4041548" y="1580450"/>
            <a:ext cx="102049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000" dirty="0">
                <a:solidFill>
                  <a:schemeClr val="bg1"/>
                </a:solidFill>
              </a:rPr>
              <a:t>Организация на паметта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DD4DE-5499-D854-3056-9574402C89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662" b="40741"/>
          <a:stretch>
            <a:fillRect/>
          </a:stretch>
        </p:blipFill>
        <p:spPr>
          <a:xfrm>
            <a:off x="7145071" y="4121281"/>
            <a:ext cx="10150231" cy="19131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510BF7-E37D-65B7-53B3-72A55D61FE83}"/>
              </a:ext>
            </a:extLst>
          </p:cNvPr>
          <p:cNvSpPr txBox="1"/>
          <p:nvPr/>
        </p:nvSpPr>
        <p:spPr>
          <a:xfrm>
            <a:off x="369651" y="3300919"/>
            <a:ext cx="61284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Текстов буфер – символно представяне (ASCII)</a:t>
            </a:r>
          </a:p>
          <a:p>
            <a:pPr>
              <a:buClr>
                <a:schemeClr val="bg1"/>
              </a:buClr>
            </a:pPr>
            <a:endParaRPr lang="ru-RU" sz="2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Шрифтова памет – растерно представяне на символите (8×16)</a:t>
            </a:r>
          </a:p>
          <a:p>
            <a:pPr>
              <a:buClr>
                <a:schemeClr val="bg1"/>
              </a:buClr>
            </a:pPr>
            <a:endParaRPr lang="ru-RU" sz="2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Кадров буфер – пикселно изображение</a:t>
            </a:r>
            <a:endParaRPr lang="bg-BG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369709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4F444A6F-752E-2E4D-16D3-E81B85ED1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>
            <a:extLst>
              <a:ext uri="{FF2B5EF4-FFF2-40B4-BE49-F238E27FC236}">
                <a16:creationId xmlns:a16="http://schemas.microsoft.com/office/drawing/2014/main" id="{5CB77E62-D2F3-B082-2399-CD7E05548C2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6704" y="-425585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23382B-CD70-13EC-A95B-A880A3B91D8D}"/>
              </a:ext>
            </a:extLst>
          </p:cNvPr>
          <p:cNvSpPr txBox="1"/>
          <p:nvPr/>
        </p:nvSpPr>
        <p:spPr>
          <a:xfrm>
            <a:off x="3480587" y="1580450"/>
            <a:ext cx="11326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RTL </a:t>
            </a:r>
            <a:r>
              <a:rPr lang="bg-BG" sz="6000" dirty="0">
                <a:solidFill>
                  <a:schemeClr val="bg1"/>
                </a:solidFill>
              </a:rPr>
              <a:t>реализация на системата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BD1FF-ABE2-9C5F-B166-64BCDCF3F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229" y="2902050"/>
            <a:ext cx="14157542" cy="19751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500471-2DC8-D844-42F3-5B876EE2CAA4}"/>
              </a:ext>
            </a:extLst>
          </p:cNvPr>
          <p:cNvSpPr txBox="1"/>
          <p:nvPr/>
        </p:nvSpPr>
        <p:spPr>
          <a:xfrm>
            <a:off x="1968507" y="5456005"/>
            <a:ext cx="142542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bg-BG" sz="2800" dirty="0">
                <a:solidFill>
                  <a:schemeClr val="bg1"/>
                </a:solidFill>
              </a:rPr>
              <a:t>Реализация изцяло на </a:t>
            </a:r>
            <a:r>
              <a:rPr lang="en-US" sz="2800" dirty="0">
                <a:solidFill>
                  <a:schemeClr val="bg1"/>
                </a:solidFill>
              </a:rPr>
              <a:t>RTL </a:t>
            </a:r>
            <a:r>
              <a:rPr lang="bg-BG" sz="2800" dirty="0">
                <a:solidFill>
                  <a:schemeClr val="bg1"/>
                </a:solidFill>
              </a:rPr>
              <a:t>ниво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bg-BG" sz="2800" dirty="0">
                <a:solidFill>
                  <a:schemeClr val="bg1"/>
                </a:solidFill>
              </a:rPr>
              <a:t>Унифициран вход: </a:t>
            </a:r>
            <a:r>
              <a:rPr lang="en-US" sz="2800" dirty="0">
                <a:solidFill>
                  <a:schemeClr val="bg1"/>
                </a:solidFill>
              </a:rPr>
              <a:t>ASCII </a:t>
            </a:r>
            <a:r>
              <a:rPr lang="bg-BG" sz="2800" dirty="0">
                <a:solidFill>
                  <a:schemeClr val="bg1"/>
                </a:solidFill>
              </a:rPr>
              <a:t>поток от </a:t>
            </a:r>
            <a:r>
              <a:rPr lang="en-US" sz="2800" dirty="0">
                <a:solidFill>
                  <a:schemeClr val="bg1"/>
                </a:solidFill>
              </a:rPr>
              <a:t>PS/2 </a:t>
            </a:r>
            <a:r>
              <a:rPr lang="bg-BG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UART</a:t>
            </a:r>
            <a:endParaRPr lang="bg-BG" sz="2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bg-BG" sz="2800" dirty="0">
                <a:solidFill>
                  <a:schemeClr val="bg1"/>
                </a:solidFill>
              </a:rPr>
              <a:t>Управление на текста: курсор, скрол и текстов буфер (</a:t>
            </a:r>
            <a:r>
              <a:rPr lang="en-US" sz="2800" dirty="0" err="1">
                <a:solidFill>
                  <a:schemeClr val="bg1"/>
                </a:solidFill>
              </a:rPr>
              <a:t>data_handler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  <a:endParaRPr lang="bg-BG" sz="2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bg-BG" sz="2800" dirty="0">
                <a:solidFill>
                  <a:schemeClr val="bg1"/>
                </a:solidFill>
              </a:rPr>
              <a:t>Генериране на кадър и видео изход към </a:t>
            </a:r>
            <a:r>
              <a:rPr lang="en-US" sz="2800" dirty="0">
                <a:solidFill>
                  <a:schemeClr val="bg1"/>
                </a:solidFill>
              </a:rPr>
              <a:t>TFT LCD (</a:t>
            </a:r>
            <a:r>
              <a:rPr lang="en-US" sz="2800" dirty="0" err="1">
                <a:solidFill>
                  <a:schemeClr val="bg1"/>
                </a:solidFill>
              </a:rPr>
              <a:t>frame_builder</a:t>
            </a:r>
            <a:r>
              <a:rPr lang="en-US" sz="2800" dirty="0">
                <a:solidFill>
                  <a:schemeClr val="bg1"/>
                </a:solidFill>
              </a:rPr>
              <a:t> + </a:t>
            </a:r>
            <a:r>
              <a:rPr lang="en-US" sz="2800" dirty="0" err="1">
                <a:solidFill>
                  <a:schemeClr val="bg1"/>
                </a:solidFill>
              </a:rPr>
              <a:t>lcd_driver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  <a:endParaRPr lang="bg-BG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735735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2AECEE7E-D733-A7E1-730E-B418031C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>
            <a:extLst>
              <a:ext uri="{FF2B5EF4-FFF2-40B4-BE49-F238E27FC236}">
                <a16:creationId xmlns:a16="http://schemas.microsoft.com/office/drawing/2014/main" id="{B1F2208E-A18E-256F-79F8-3711E9DBBA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8304" y="-418385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F7B48B-2E4F-CB8C-D28C-068FCCD247B3}"/>
              </a:ext>
            </a:extLst>
          </p:cNvPr>
          <p:cNvSpPr txBox="1"/>
          <p:nvPr/>
        </p:nvSpPr>
        <p:spPr>
          <a:xfrm>
            <a:off x="3480587" y="1580450"/>
            <a:ext cx="11326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000" dirty="0">
                <a:solidFill>
                  <a:schemeClr val="bg1"/>
                </a:solidFill>
              </a:rPr>
              <a:t>Електрически схеми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161E61-AE7E-1FC6-3A52-A462C3B44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0321" y="2596113"/>
            <a:ext cx="10347358" cy="47168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7054EB-0444-4D26-5FDE-F5E0C12A20DF}"/>
              </a:ext>
            </a:extLst>
          </p:cNvPr>
          <p:cNvSpPr txBox="1"/>
          <p:nvPr/>
        </p:nvSpPr>
        <p:spPr>
          <a:xfrm>
            <a:off x="4248886" y="7373257"/>
            <a:ext cx="9790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TPS61042</a:t>
            </a:r>
            <a:r>
              <a:rPr lang="bg-BG" sz="2800" dirty="0">
                <a:solidFill>
                  <a:schemeClr val="bg1"/>
                </a:solidFill>
              </a:rPr>
              <a:t> - постоянно токов източник за </a:t>
            </a:r>
            <a:r>
              <a:rPr lang="en-US" sz="2800" dirty="0">
                <a:solidFill>
                  <a:schemeClr val="bg1"/>
                </a:solidFill>
              </a:rPr>
              <a:t>LED </a:t>
            </a:r>
            <a:r>
              <a:rPr lang="bg-BG" sz="2800" dirty="0">
                <a:solidFill>
                  <a:schemeClr val="bg1"/>
                </a:solidFill>
              </a:rPr>
              <a:t>подсветка</a:t>
            </a:r>
          </a:p>
        </p:txBody>
      </p:sp>
    </p:spTree>
    <p:extLst>
      <p:ext uri="{BB962C8B-B14F-4D97-AF65-F5344CB8AC3E}">
        <p14:creationId xmlns:p14="http://schemas.microsoft.com/office/powerpoint/2010/main" val="1096279380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6B0CC10A-C7EF-1EFB-477D-6B112059E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>
            <a:extLst>
              <a:ext uri="{FF2B5EF4-FFF2-40B4-BE49-F238E27FC236}">
                <a16:creationId xmlns:a16="http://schemas.microsoft.com/office/drawing/2014/main" id="{8A6EF206-25B4-28B1-4A98-49901D545A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8304" y="-418385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5997A8-7E7C-1476-EA13-E3D08F709492}"/>
              </a:ext>
            </a:extLst>
          </p:cNvPr>
          <p:cNvSpPr txBox="1"/>
          <p:nvPr/>
        </p:nvSpPr>
        <p:spPr>
          <a:xfrm>
            <a:off x="3480587" y="1580450"/>
            <a:ext cx="11326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000" dirty="0">
                <a:solidFill>
                  <a:schemeClr val="bg1"/>
                </a:solidFill>
              </a:rPr>
              <a:t>Електрически схеми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27B6F8-162E-2FF0-854D-F980CD70E778}"/>
              </a:ext>
            </a:extLst>
          </p:cNvPr>
          <p:cNvSpPr txBox="1"/>
          <p:nvPr/>
        </p:nvSpPr>
        <p:spPr>
          <a:xfrm>
            <a:off x="4248885" y="7570619"/>
            <a:ext cx="9790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MAX3232</a:t>
            </a:r>
            <a:r>
              <a:rPr lang="bg-BG" sz="2800" dirty="0">
                <a:solidFill>
                  <a:schemeClr val="bg1"/>
                </a:solidFill>
              </a:rPr>
              <a:t> - 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bg-BG" sz="2800" dirty="0">
                <a:solidFill>
                  <a:schemeClr val="bg1"/>
                </a:solidFill>
              </a:rPr>
              <a:t>многоканален </a:t>
            </a:r>
            <a:r>
              <a:rPr lang="en-US" sz="2800" dirty="0">
                <a:solidFill>
                  <a:schemeClr val="bg1"/>
                </a:solidFill>
              </a:rPr>
              <a:t>RS-232 </a:t>
            </a:r>
            <a:r>
              <a:rPr lang="bg-BG" sz="2800" dirty="0">
                <a:solidFill>
                  <a:schemeClr val="bg1"/>
                </a:solidFill>
              </a:rPr>
              <a:t>драйвер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4E564-CD98-2FBA-0D05-59609F888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841" y="2508785"/>
            <a:ext cx="6480318" cy="495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737997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F727C870-C80A-14A5-DC7F-F941F5DD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>
            <a:extLst>
              <a:ext uri="{FF2B5EF4-FFF2-40B4-BE49-F238E27FC236}">
                <a16:creationId xmlns:a16="http://schemas.microsoft.com/office/drawing/2014/main" id="{750F70EA-F42B-3CA7-FB31-13E27DAED0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6704" y="-425585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7CC730-FBFD-02FF-9850-C298C36E3F31}"/>
              </a:ext>
            </a:extLst>
          </p:cNvPr>
          <p:cNvSpPr txBox="1"/>
          <p:nvPr/>
        </p:nvSpPr>
        <p:spPr>
          <a:xfrm>
            <a:off x="3480587" y="1580450"/>
            <a:ext cx="11326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000" dirty="0">
                <a:solidFill>
                  <a:schemeClr val="bg1"/>
                </a:solidFill>
              </a:rPr>
              <a:t>Печатна платка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5CA93-232A-4E2A-671E-E42F40C68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393" y="2756572"/>
            <a:ext cx="5590582" cy="557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15A740-8DF8-3EB9-B305-4C186EF278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9760026" y="2756572"/>
            <a:ext cx="5590581" cy="557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45150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5F7A16D7-077C-C3C8-12FC-19037287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>
            <a:extLst>
              <a:ext uri="{FF2B5EF4-FFF2-40B4-BE49-F238E27FC236}">
                <a16:creationId xmlns:a16="http://schemas.microsoft.com/office/drawing/2014/main" id="{051A0205-F6E2-1CD8-0D5B-10FE4CC887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6704" y="-425585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F5888D-A3B9-E07D-FCB4-5820C4F619BE}"/>
              </a:ext>
            </a:extLst>
          </p:cNvPr>
          <p:cNvSpPr txBox="1"/>
          <p:nvPr/>
        </p:nvSpPr>
        <p:spPr>
          <a:xfrm>
            <a:off x="3480587" y="1580450"/>
            <a:ext cx="11326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000" dirty="0">
                <a:solidFill>
                  <a:schemeClr val="bg1"/>
                </a:solidFill>
              </a:rPr>
              <a:t>Демонстрационна постановка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1BF3F7-54D0-E518-3B71-923BF29A5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244" y="2596113"/>
            <a:ext cx="10849512" cy="691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84866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0C859F29-FB4A-EB03-F84E-078C9B578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>
            <a:extLst>
              <a:ext uri="{FF2B5EF4-FFF2-40B4-BE49-F238E27FC236}">
                <a16:creationId xmlns:a16="http://schemas.microsoft.com/office/drawing/2014/main" id="{9B2A4B0B-D4CF-A11E-566E-09F61E1B88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6704" y="-425585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2A49F7-89C3-15D9-9439-D4203394DC8C}"/>
              </a:ext>
            </a:extLst>
          </p:cNvPr>
          <p:cNvSpPr txBox="1"/>
          <p:nvPr/>
        </p:nvSpPr>
        <p:spPr>
          <a:xfrm>
            <a:off x="3480587" y="1580450"/>
            <a:ext cx="11326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000" dirty="0">
                <a:solidFill>
                  <a:schemeClr val="bg1"/>
                </a:solidFill>
              </a:rPr>
              <a:t>Демонстрационна постановка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6D059-70FD-C625-BA3D-EC5B639B1374}"/>
              </a:ext>
            </a:extLst>
          </p:cNvPr>
          <p:cNvSpPr txBox="1"/>
          <p:nvPr/>
        </p:nvSpPr>
        <p:spPr>
          <a:xfrm>
            <a:off x="2819793" y="3224875"/>
            <a:ext cx="5365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Interface enable ether2</a:t>
            </a:r>
            <a:endParaRPr lang="bg-BG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EF356C-B96A-BA24-C08C-EFCA7A22E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036" y="3844635"/>
            <a:ext cx="6059055" cy="4544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0D3382-6B21-07C3-2FFE-2C9E219A9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5910" y="3844636"/>
            <a:ext cx="6059054" cy="4544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8B9613-9E36-BE92-E24D-033CB697C9B8}"/>
              </a:ext>
            </a:extLst>
          </p:cNvPr>
          <p:cNvSpPr txBox="1"/>
          <p:nvPr/>
        </p:nvSpPr>
        <p:spPr>
          <a:xfrm>
            <a:off x="10102669" y="3224875"/>
            <a:ext cx="5365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Interface disable ether2</a:t>
            </a:r>
            <a:endParaRPr lang="bg-BG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02353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DF51A3C6-5CA9-94CA-7220-83DBA3F8C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>
            <a:extLst>
              <a:ext uri="{FF2B5EF4-FFF2-40B4-BE49-F238E27FC236}">
                <a16:creationId xmlns:a16="http://schemas.microsoft.com/office/drawing/2014/main" id="{855BAC54-6D74-55B7-45A7-73727052C56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6704" y="-425585"/>
            <a:ext cx="22276675" cy="140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3FE3AF-15F7-987E-1403-D222E5021061}"/>
              </a:ext>
            </a:extLst>
          </p:cNvPr>
          <p:cNvSpPr txBox="1"/>
          <p:nvPr/>
        </p:nvSpPr>
        <p:spPr>
          <a:xfrm>
            <a:off x="3480586" y="3845668"/>
            <a:ext cx="113268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600" dirty="0">
                <a:solidFill>
                  <a:schemeClr val="bg1"/>
                </a:solidFill>
              </a:rPr>
              <a:t>Благодаря за вниманието!</a:t>
            </a:r>
            <a:br>
              <a:rPr lang="bg-BG" sz="6600" dirty="0">
                <a:solidFill>
                  <a:schemeClr val="bg1"/>
                </a:solidFill>
              </a:rPr>
            </a:br>
            <a:r>
              <a:rPr lang="bg-BG" sz="6600" dirty="0">
                <a:solidFill>
                  <a:schemeClr val="bg1"/>
                </a:solidFill>
              </a:rPr>
              <a:t>Въпроси?</a:t>
            </a:r>
          </a:p>
        </p:txBody>
      </p:sp>
    </p:spTree>
    <p:extLst>
      <p:ext uri="{BB962C8B-B14F-4D97-AF65-F5344CB8AC3E}">
        <p14:creationId xmlns:p14="http://schemas.microsoft.com/office/powerpoint/2010/main" val="890328478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E8A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8"/>
          <p:cNvSpPr txBox="1"/>
          <p:nvPr/>
        </p:nvSpPr>
        <p:spPr>
          <a:xfrm>
            <a:off x="5280936" y="2123768"/>
            <a:ext cx="7726128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8800" b="0" i="0" u="none" strike="noStrike" cap="none" dirty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Източници</a:t>
            </a:r>
            <a:endParaRPr dirty="0">
              <a:latin typeface="Josefin Sans" pitchFamily="2" charset="0"/>
            </a:endParaRPr>
          </a:p>
        </p:txBody>
      </p:sp>
      <p:sp>
        <p:nvSpPr>
          <p:cNvPr id="415" name="Google Shape;415;p38"/>
          <p:cNvSpPr txBox="1"/>
          <p:nvPr/>
        </p:nvSpPr>
        <p:spPr>
          <a:xfrm>
            <a:off x="1477810" y="3824842"/>
            <a:ext cx="13901390" cy="28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100" b="0" i="0" u="none" strike="noStrike" cap="none" dirty="0"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342900" marR="0" lvl="0" indent="-3429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 err="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SlidesCarnival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 for the presentation template</a:t>
            </a:r>
            <a:endParaRPr lang="bg-BG" sz="2800" b="0" i="0" u="none" strike="noStrike" cap="none" dirty="0"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457200" lvl="0" indent="-457200">
              <a:lnSpc>
                <a:spcPct val="14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https://www.usconverters.com/usb-rs232-adapter-xs8801</a:t>
            </a:r>
            <a:endParaRPr lang="bg-BG" sz="2800" dirty="0">
              <a:solidFill>
                <a:schemeClr val="bg1"/>
              </a:solidFill>
            </a:endParaRPr>
          </a:p>
          <a:p>
            <a:pPr marL="457200" lvl="0" indent="-457200">
              <a:lnSpc>
                <a:spcPct val="14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https://hackaday.io/project/189699/gallery#8c6145e5882ac722701cb21076b83773</a:t>
            </a:r>
            <a:endParaRPr lang="bg-BG" sz="2800" dirty="0">
              <a:solidFill>
                <a:schemeClr val="bg1"/>
              </a:solidFill>
            </a:endParaRPr>
          </a:p>
          <a:p>
            <a:pPr marL="457200" lvl="0" indent="-457200">
              <a:lnSpc>
                <a:spcPct val="14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https://hackaday.io/project/176175/gallery#2c2eeb4a1e834826d406489954517f73</a:t>
            </a:r>
            <a:endParaRPr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3951</TotalTime>
  <Words>559</Words>
  <Application>Microsoft Office PowerPoint</Application>
  <PresentationFormat>Custom</PresentationFormat>
  <Paragraphs>47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Josefin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</dc:creator>
  <cp:lastModifiedBy>КРИСТИЯН ГАЛИНОВ МИХАЛЕВ Е 2к</cp:lastModifiedBy>
  <cp:revision>16</cp:revision>
  <dcterms:modified xsi:type="dcterms:W3CDTF">2026-01-21T19:27:26Z</dcterms:modified>
</cp:coreProperties>
</file>